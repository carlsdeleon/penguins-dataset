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4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EA30C-1C4D-4F46-B56F-EDEAC6C39502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02BD983-E0DB-486B-86D2-E7108992A0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69709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EA30C-1C4D-4F46-B56F-EDEAC6C39502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BD983-E0DB-486B-86D2-E7108992A0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7021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EA30C-1C4D-4F46-B56F-EDEAC6C39502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02BD983-E0DB-486B-86D2-E7108992A0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2724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EA30C-1C4D-4F46-B56F-EDEAC6C39502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02BD983-E0DB-486B-86D2-E7108992A0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4552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EA30C-1C4D-4F46-B56F-EDEAC6C39502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02BD983-E0DB-486B-86D2-E7108992A0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685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EA30C-1C4D-4F46-B56F-EDEAC6C39502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BD983-E0DB-486B-86D2-E7108992A0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36211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EA30C-1C4D-4F46-B56F-EDEAC6C39502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BD983-E0DB-486B-86D2-E7108992A0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65761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EA30C-1C4D-4F46-B56F-EDEAC6C39502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BD983-E0DB-486B-86D2-E7108992A0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2034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EA30C-1C4D-4F46-B56F-EDEAC6C39502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02BD983-E0DB-486B-86D2-E7108992A0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613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EA30C-1C4D-4F46-B56F-EDEAC6C39502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02BD983-E0DB-486B-86D2-E7108992A0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8790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EA30C-1C4D-4F46-B56F-EDEAC6C39502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02BD983-E0DB-486B-86D2-E7108992A080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054786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EA30C-1C4D-4F46-B56F-EDEAC6C39502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02BD983-E0DB-486B-86D2-E7108992A0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63208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EA30C-1C4D-4F46-B56F-EDEAC6C39502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02BD983-E0DB-486B-86D2-E7108992A080}" type="slidenum">
              <a:rPr lang="es-MX" smtClean="0"/>
              <a:t>‹Nº›</a:t>
            </a:fld>
            <a:endParaRPr lang="es-MX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91552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EA30C-1C4D-4F46-B56F-EDEAC6C39502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02BD983-E0DB-486B-86D2-E7108992A0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044500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EA30C-1C4D-4F46-B56F-EDEAC6C39502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BD983-E0DB-486B-86D2-E7108992A0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1784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EA30C-1C4D-4F46-B56F-EDEAC6C39502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BD983-E0DB-486B-86D2-E7108992A0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82328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0EA30C-1C4D-4F46-B56F-EDEAC6C39502}" type="datetimeFigureOut">
              <a:rPr lang="es-MX" smtClean="0"/>
              <a:t>14/01/2026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02BD983-E0DB-486B-86D2-E7108992A08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2047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ncepto.de/lenguaje-de-programacion/" TargetMode="External"/><Relationship Id="rId2" Type="http://schemas.openxmlformats.org/officeDocument/2006/relationships/hyperlink" Target="https://concepto.de/archivo-informatico/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AC26C5C3-D707-4106-BEC1-B98FB8E4E8A4}"/>
              </a:ext>
            </a:extLst>
          </p:cNvPr>
          <p:cNvSpPr/>
          <p:nvPr/>
        </p:nvSpPr>
        <p:spPr>
          <a:xfrm>
            <a:off x="3026570" y="2720200"/>
            <a:ext cx="70038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Sistemas operativos </a:t>
            </a:r>
          </a:p>
        </p:txBody>
      </p:sp>
    </p:spTree>
    <p:extLst>
      <p:ext uri="{BB962C8B-B14F-4D97-AF65-F5344CB8AC3E}">
        <p14:creationId xmlns:p14="http://schemas.microsoft.com/office/powerpoint/2010/main" val="2376084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2AE0B73-9A97-4FFD-B3ED-94F679350824}"/>
              </a:ext>
            </a:extLst>
          </p:cNvPr>
          <p:cNvSpPr/>
          <p:nvPr/>
        </p:nvSpPr>
        <p:spPr>
          <a:xfrm>
            <a:off x="2125362" y="1066449"/>
            <a:ext cx="945291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sz="2000" dirty="0"/>
              <a:t>Un </a:t>
            </a:r>
            <a:r>
              <a:rPr lang="es-MX" sz="2000" b="1" dirty="0">
                <a:latin typeface="Google Sans"/>
              </a:rPr>
              <a:t>sistema operativo (SO)</a:t>
            </a:r>
            <a:r>
              <a:rPr lang="es-MX" sz="2000" dirty="0">
                <a:latin typeface="Google Sans"/>
              </a:rPr>
              <a:t> es el </a:t>
            </a:r>
            <a:r>
              <a:rPr lang="es-MX" sz="2000" dirty="0"/>
              <a:t>software fundamental que actúa como intermediario entre el usuario y el hardware de un dispositivo</a:t>
            </a:r>
            <a:r>
              <a:rPr lang="es-MX" sz="2000" dirty="0">
                <a:latin typeface="Google Sans"/>
              </a:rPr>
              <a:t> (computadora, smartphone, </a:t>
            </a:r>
            <a:r>
              <a:rPr lang="es-MX" sz="2000" dirty="0" err="1">
                <a:latin typeface="Google Sans"/>
              </a:rPr>
              <a:t>tablet</a:t>
            </a:r>
            <a:r>
              <a:rPr lang="es-MX" sz="2000" dirty="0">
                <a:latin typeface="Google Sans"/>
              </a:rPr>
              <a:t>), gestionando todos sus recursos (memoria, CPU, almacenamiento, periféricos) y permitiendo la ejecución de aplicaciones y la interacción con el equipo de forma intuitiva, siendo ejemplos Windows, macOS, Linux, Android e iOS. </a:t>
            </a:r>
            <a:endParaRPr lang="es-MX" sz="2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B804D9A-0409-4DBD-B33B-ED4BB9C39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322" y="3304737"/>
            <a:ext cx="4036626" cy="212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078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9621EB8-5CCD-4322-9D7D-D8356426FA9A}"/>
              </a:ext>
            </a:extLst>
          </p:cNvPr>
          <p:cNvSpPr/>
          <p:nvPr/>
        </p:nvSpPr>
        <p:spPr>
          <a:xfrm>
            <a:off x="2318951" y="1151453"/>
            <a:ext cx="9024552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000000"/>
                </a:solidFill>
                <a:latin typeface="Montserrat"/>
              </a:rPr>
              <a:t>Características de un sistema operativo</a:t>
            </a:r>
          </a:p>
          <a:p>
            <a:endParaRPr lang="es-MX" sz="2800" b="1" dirty="0">
              <a:solidFill>
                <a:srgbClr val="000000"/>
              </a:solidFill>
              <a:latin typeface="Montserrat"/>
            </a:endParaRPr>
          </a:p>
          <a:p>
            <a:pPr algn="just"/>
            <a:r>
              <a:rPr lang="es-MX" dirty="0">
                <a:solidFill>
                  <a:srgbClr val="000000"/>
                </a:solidFill>
                <a:latin typeface="Montserrat"/>
              </a:rPr>
              <a:t>Un sistema operativo se caracteriza principalmente por ser:</a:t>
            </a:r>
          </a:p>
          <a:p>
            <a:pPr algn="just"/>
            <a:endParaRPr lang="es-MX" b="0" i="0" dirty="0">
              <a:solidFill>
                <a:srgbClr val="000000"/>
              </a:solidFill>
              <a:effectLst/>
              <a:latin typeface="Montserrat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MX" b="1" dirty="0"/>
              <a:t>Intermediario entre usuario y hardware</a:t>
            </a:r>
            <a:r>
              <a:rPr lang="es-MX" dirty="0"/>
              <a:t>. El sistema operativo actúa como el puente entre la persona que lo usa y los componentes físicos del dispositivo, también llamados hardware.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s-MX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MX" b="1" dirty="0"/>
              <a:t>Indispensable para el funcionamiento</a:t>
            </a:r>
            <a:r>
              <a:rPr lang="es-MX" dirty="0"/>
              <a:t>. El sistema operativo es necesario para el funcionamiento de todos los computadores, tabletas y teléfonos móviles.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s-MX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MX" b="1" dirty="0"/>
              <a:t>Seguridad y protección</a:t>
            </a:r>
            <a:r>
              <a:rPr lang="es-MX" dirty="0"/>
              <a:t>. Es el encargado de la seguridad de los programas y archivos del ordenador, defendiéndolo de daños o accesos no autorizados.</a:t>
            </a:r>
          </a:p>
          <a:p>
            <a:endParaRPr lang="es-MX" b="0" i="0" dirty="0">
              <a:solidFill>
                <a:srgbClr val="000000"/>
              </a:solidFill>
              <a:effectLst/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92665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4DC3E5B-B49F-4B3F-BCA9-638B3BB6B308}"/>
              </a:ext>
            </a:extLst>
          </p:cNvPr>
          <p:cNvSpPr/>
          <p:nvPr/>
        </p:nvSpPr>
        <p:spPr>
          <a:xfrm>
            <a:off x="2323070" y="1157580"/>
            <a:ext cx="8773297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MX" b="1" dirty="0"/>
              <a:t>Diseñado para la usabilidad. </a:t>
            </a:r>
            <a:r>
              <a:rPr lang="es-MX" dirty="0"/>
              <a:t>El objetivo de su diseño es ser amigable con el usuario, intuitivo y fácil de usar.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s-MX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MX" b="1" dirty="0"/>
              <a:t>Gestión de recursos eficiente. </a:t>
            </a:r>
            <a:r>
              <a:rPr lang="es-MX" dirty="0"/>
              <a:t>Es lo que permite administrar los recursos del ordenador, como la memoria, dispositivos periféricos o el procesador.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s-MX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MX" b="1" dirty="0"/>
              <a:t>Requerir licencia de uso. </a:t>
            </a:r>
            <a:r>
              <a:rPr lang="es-MX" dirty="0"/>
              <a:t>La mayoría de los sistemas operativos requiere del pago de una licencia para su uso.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s-MX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MX" b="1" dirty="0"/>
              <a:t>Interacción con otros dispositivos. </a:t>
            </a:r>
            <a:r>
              <a:rPr lang="es-MX" dirty="0"/>
              <a:t>Gracias al sistema operativo, un dispositivo puede interactuar con varios dispositivos, como cámaras, impresoras o micrófonos.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s-MX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MX" b="1" dirty="0"/>
              <a:t>Actualizado constantemente</a:t>
            </a:r>
            <a:r>
              <a:rPr lang="es-MX" dirty="0"/>
              <a:t>. Debido a que es progresivo, es decir, que existen constantemente nuevas versiones, los sistemas operativos se actualizan y adaptan a las necesidades del usuario de manera continua.</a:t>
            </a:r>
          </a:p>
          <a:p>
            <a:endParaRPr lang="es-MX" b="0" i="0" dirty="0">
              <a:solidFill>
                <a:srgbClr val="000000"/>
              </a:solidFill>
              <a:effectLst/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04403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C9A1F4C-9FE1-4F30-B47A-1870AB1E3719}"/>
              </a:ext>
            </a:extLst>
          </p:cNvPr>
          <p:cNvSpPr/>
          <p:nvPr/>
        </p:nvSpPr>
        <p:spPr>
          <a:xfrm>
            <a:off x="2471351" y="1283723"/>
            <a:ext cx="8773298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000000"/>
                </a:solidFill>
                <a:latin typeface="Montserrat"/>
              </a:rPr>
              <a:t>Tipos de sistema operativo</a:t>
            </a:r>
          </a:p>
          <a:p>
            <a:endParaRPr lang="es-MX" b="1" dirty="0">
              <a:solidFill>
                <a:srgbClr val="000000"/>
              </a:solidFill>
              <a:latin typeface="Montserrat"/>
            </a:endParaRPr>
          </a:p>
          <a:p>
            <a:pPr algn="just"/>
            <a:r>
              <a:rPr lang="es-MX" sz="2000" dirty="0">
                <a:solidFill>
                  <a:srgbClr val="000000"/>
                </a:solidFill>
                <a:latin typeface="Montserrat"/>
              </a:rPr>
              <a:t>Los tipos de sistema operativo varían según el hardware y la función de cada dispositivo. Existen algunos para ordenadores y otros para dispositivos móviles.</a:t>
            </a:r>
          </a:p>
          <a:p>
            <a:pPr algn="just"/>
            <a:endParaRPr lang="es-MX" sz="2000" dirty="0">
              <a:solidFill>
                <a:srgbClr val="000000"/>
              </a:solidFill>
              <a:latin typeface="Montserrat"/>
            </a:endParaRPr>
          </a:p>
          <a:p>
            <a:pPr algn="just"/>
            <a:r>
              <a:rPr lang="es-MX" sz="2000" dirty="0">
                <a:solidFill>
                  <a:srgbClr val="000000"/>
                </a:solidFill>
                <a:latin typeface="Montserrat"/>
              </a:rPr>
              <a:t>Según el usuario pueden ser:</a:t>
            </a:r>
          </a:p>
          <a:p>
            <a:pPr algn="just"/>
            <a:endParaRPr lang="es-MX" sz="2000" dirty="0">
              <a:solidFill>
                <a:srgbClr val="000000"/>
              </a:solidFill>
              <a:latin typeface="Montserrat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s-MX" sz="2000" b="1" dirty="0">
                <a:solidFill>
                  <a:srgbClr val="000000"/>
                </a:solidFill>
                <a:latin typeface="Montserrat"/>
              </a:rPr>
              <a:t>Multiusuario</a:t>
            </a:r>
            <a:r>
              <a:rPr lang="es-MX" sz="2000" dirty="0">
                <a:solidFill>
                  <a:srgbClr val="000000"/>
                </a:solidFill>
                <a:latin typeface="Montserrat"/>
              </a:rPr>
              <a:t>, sistema operativo que permite que varios usuarios ejecuten simultáneamente sus programas.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s-MX" sz="2000" dirty="0">
              <a:solidFill>
                <a:srgbClr val="000000"/>
              </a:solidFill>
              <a:latin typeface="Montserrat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s-MX" sz="2000" b="1" dirty="0">
                <a:solidFill>
                  <a:srgbClr val="000000"/>
                </a:solidFill>
                <a:latin typeface="Montserrat"/>
              </a:rPr>
              <a:t>Monousuario</a:t>
            </a:r>
            <a:r>
              <a:rPr lang="es-MX" sz="2000" dirty="0">
                <a:solidFill>
                  <a:srgbClr val="000000"/>
                </a:solidFill>
                <a:latin typeface="Montserrat"/>
              </a:rPr>
              <a:t>, sistema operativo que solamente permite ejecutar los programas de un usuario a la vez.</a:t>
            </a:r>
            <a:endParaRPr lang="es-MX" sz="2000" b="0" i="0" dirty="0">
              <a:solidFill>
                <a:srgbClr val="000000"/>
              </a:solidFill>
              <a:effectLst/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095588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44483F13-ED51-4F41-AB93-11BC6264F4F2}"/>
              </a:ext>
            </a:extLst>
          </p:cNvPr>
          <p:cNvSpPr/>
          <p:nvPr/>
        </p:nvSpPr>
        <p:spPr>
          <a:xfrm>
            <a:off x="2384853" y="722684"/>
            <a:ext cx="8464379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dirty="0">
                <a:solidFill>
                  <a:srgbClr val="000000"/>
                </a:solidFill>
                <a:latin typeface="Montserrat"/>
              </a:rPr>
              <a:t>Según la gestión de tareas pueden ser:</a:t>
            </a:r>
          </a:p>
          <a:p>
            <a:endParaRPr lang="es-MX" sz="2400" dirty="0">
              <a:solidFill>
                <a:srgbClr val="000000"/>
              </a:solidFill>
              <a:latin typeface="Montserrat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s-MX" sz="2400" b="1" dirty="0">
                <a:solidFill>
                  <a:srgbClr val="000000"/>
                </a:solidFill>
                <a:latin typeface="Montserrat"/>
              </a:rPr>
              <a:t>Monotarea</a:t>
            </a:r>
            <a:r>
              <a:rPr lang="es-MX" sz="2400" dirty="0">
                <a:solidFill>
                  <a:srgbClr val="000000"/>
                </a:solidFill>
                <a:latin typeface="Montserrat"/>
              </a:rPr>
              <a:t>, sistema operativo que solamente permite ejecutar un proceso a la vez.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s-MX" sz="2400" dirty="0">
              <a:solidFill>
                <a:srgbClr val="000000"/>
              </a:solidFill>
              <a:latin typeface="Montserrat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s-MX" sz="2400" b="1" dirty="0">
                <a:solidFill>
                  <a:srgbClr val="000000"/>
                </a:solidFill>
                <a:latin typeface="Montserrat"/>
              </a:rPr>
              <a:t>Multitarea</a:t>
            </a:r>
            <a:r>
              <a:rPr lang="es-MX" sz="2400" dirty="0">
                <a:solidFill>
                  <a:srgbClr val="000000"/>
                </a:solidFill>
                <a:latin typeface="Montserrat"/>
              </a:rPr>
              <a:t>, sistema operativo que puede ejecutar varios procesos al mismo tiempo.</a:t>
            </a:r>
          </a:p>
          <a:p>
            <a:pPr algn="just"/>
            <a:endParaRPr lang="es-MX" sz="2400" dirty="0">
              <a:solidFill>
                <a:srgbClr val="000000"/>
              </a:solidFill>
              <a:latin typeface="Montserrat"/>
            </a:endParaRPr>
          </a:p>
          <a:p>
            <a:pPr algn="just"/>
            <a:r>
              <a:rPr lang="es-MX" sz="2400" dirty="0">
                <a:solidFill>
                  <a:srgbClr val="000000"/>
                </a:solidFill>
                <a:latin typeface="Montserrat"/>
              </a:rPr>
              <a:t>Según la gestión de recursos pueden ser:</a:t>
            </a:r>
          </a:p>
          <a:p>
            <a:pPr algn="just"/>
            <a:endParaRPr lang="es-MX" sz="2400" dirty="0">
              <a:solidFill>
                <a:srgbClr val="000000"/>
              </a:solidFill>
              <a:latin typeface="Montserrat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s-MX" sz="2400" b="1" dirty="0">
                <a:solidFill>
                  <a:srgbClr val="000000"/>
                </a:solidFill>
                <a:latin typeface="Montserrat"/>
              </a:rPr>
              <a:t>Centralizado</a:t>
            </a:r>
            <a:r>
              <a:rPr lang="es-MX" sz="2400" dirty="0">
                <a:solidFill>
                  <a:srgbClr val="000000"/>
                </a:solidFill>
                <a:latin typeface="Montserrat"/>
              </a:rPr>
              <a:t>, sistema operativo que solo permite utilizar los recursos de un solo ordenador.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s-MX" sz="2400" dirty="0">
              <a:solidFill>
                <a:srgbClr val="000000"/>
              </a:solidFill>
              <a:latin typeface="Montserrat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s-MX" sz="2400" b="1" dirty="0">
                <a:solidFill>
                  <a:srgbClr val="000000"/>
                </a:solidFill>
                <a:latin typeface="Montserrat"/>
              </a:rPr>
              <a:t>Distribuido</a:t>
            </a:r>
            <a:r>
              <a:rPr lang="es-MX" sz="2400" dirty="0">
                <a:solidFill>
                  <a:srgbClr val="000000"/>
                </a:solidFill>
                <a:latin typeface="Montserrat"/>
              </a:rPr>
              <a:t>, sistema operativo que permite ejecutar los procesos de más de un ordenador al mismo tiempo.</a:t>
            </a:r>
            <a:endParaRPr lang="es-MX" sz="2400" b="0" i="0" dirty="0">
              <a:solidFill>
                <a:srgbClr val="000000"/>
              </a:solidFill>
              <a:effectLst/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24344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F1D17F79-74A8-45FE-B56A-2509AF96C836}"/>
              </a:ext>
            </a:extLst>
          </p:cNvPr>
          <p:cNvSpPr/>
          <p:nvPr/>
        </p:nvSpPr>
        <p:spPr>
          <a:xfrm>
            <a:off x="2063578" y="1192075"/>
            <a:ext cx="909457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Componentes de un sistema operativo</a:t>
            </a:r>
          </a:p>
          <a:p>
            <a:pPr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algn="just"/>
            <a:r>
              <a:rPr lang="es-MX" dirty="0"/>
              <a:t>El sistema operativo posee tres componentes esenciales o paquetes de software que permiten la interacción con el hardware:</a:t>
            </a:r>
          </a:p>
          <a:p>
            <a:pPr indent="-285750" algn="just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MX" b="1" dirty="0"/>
              <a:t>Sistema de archivos. </a:t>
            </a:r>
            <a:r>
              <a:rPr lang="es-MX" dirty="0"/>
              <a:t>Es el registro de </a:t>
            </a:r>
            <a:r>
              <a:rPr lang="es-MX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archivos</a:t>
            </a:r>
            <a:r>
              <a:rPr lang="es-MX" dirty="0"/>
              <a:t> donde adquieren una estructura arbórea.</a:t>
            </a:r>
          </a:p>
          <a:p>
            <a:pPr indent="-285750" algn="just">
              <a:buFont typeface="Wingdings" panose="05000000000000000000" pitchFamily="2" charset="2"/>
              <a:buChar char="q"/>
            </a:pPr>
            <a:endParaRPr lang="es-MX" dirty="0"/>
          </a:p>
          <a:p>
            <a:pPr indent="-285750" algn="just">
              <a:buFont typeface="Wingdings" panose="05000000000000000000" pitchFamily="2" charset="2"/>
              <a:buChar char="q"/>
            </a:pPr>
            <a:r>
              <a:rPr lang="es-MX" b="1" dirty="0"/>
              <a:t>Interpretación de comandos. </a:t>
            </a:r>
            <a:r>
              <a:rPr lang="es-MX" dirty="0"/>
              <a:t>Se logra con aquellos componentes que permiten la interpretación de los comandos, que tienen como función comunicar las órdenes dadas por el usuario en un </a:t>
            </a:r>
            <a:r>
              <a:rPr lang="es-MX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lenguaje</a:t>
            </a:r>
            <a:r>
              <a:rPr lang="es-MX" dirty="0"/>
              <a:t> que el hardware pueda interpretar (sin que aquel que dé las órdenes conozca dicho lenguaje).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s-MX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MX" b="1" dirty="0"/>
              <a:t>Núcleo</a:t>
            </a:r>
            <a:r>
              <a:rPr lang="es-MX" dirty="0"/>
              <a:t>. Permite el funcionamiento en cuestiones básicas como la comunicación, entrada y salida de datos, gestión de procesos y la memoria, entre otros.</a:t>
            </a:r>
          </a:p>
          <a:p>
            <a:pPr>
              <a:buFont typeface="Arial" panose="020B0604020202020204" pitchFamily="34" charset="0"/>
              <a:buChar char="•"/>
            </a:pPr>
            <a:endParaRPr lang="es-MX" b="0" i="0" dirty="0">
              <a:solidFill>
                <a:srgbClr val="000000"/>
              </a:solidFill>
              <a:effectLst/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14622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A6937E1-5FB3-4D73-8304-DA10F2702F01}"/>
              </a:ext>
            </a:extLst>
          </p:cNvPr>
          <p:cNvSpPr/>
          <p:nvPr/>
        </p:nvSpPr>
        <p:spPr>
          <a:xfrm>
            <a:off x="2310713" y="1711059"/>
            <a:ext cx="9205784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000000"/>
                </a:solidFill>
                <a:latin typeface="Montserrat"/>
              </a:rPr>
              <a:t>¿Para qué sirve un sistema operativo?</a:t>
            </a:r>
          </a:p>
          <a:p>
            <a:endParaRPr lang="es-MX" b="1" dirty="0">
              <a:solidFill>
                <a:srgbClr val="000000"/>
              </a:solidFill>
              <a:latin typeface="Montserrat"/>
            </a:endParaRPr>
          </a:p>
          <a:p>
            <a:pPr algn="just"/>
            <a:r>
              <a:rPr lang="es-MX" sz="2000" dirty="0">
                <a:solidFill>
                  <a:srgbClr val="000000"/>
                </a:solidFill>
                <a:latin typeface="Montserrat"/>
              </a:rPr>
              <a:t>Los sistemas operativos </a:t>
            </a:r>
            <a:r>
              <a:rPr lang="es-MX" sz="2000" b="1" dirty="0">
                <a:solidFill>
                  <a:srgbClr val="000000"/>
                </a:solidFill>
                <a:latin typeface="Montserrat"/>
              </a:rPr>
              <a:t>permiten que otros programas puedan utilizarlos de apoyo para poder funcionar</a:t>
            </a:r>
            <a:r>
              <a:rPr lang="es-MX" sz="2000" dirty="0">
                <a:solidFill>
                  <a:srgbClr val="000000"/>
                </a:solidFill>
                <a:latin typeface="Montserrat"/>
              </a:rPr>
              <a:t>. Por eso, a partir del sistema utilizado pueden ser instalados ciertos programas y otros no.</a:t>
            </a:r>
          </a:p>
          <a:p>
            <a:pPr algn="just"/>
            <a:endParaRPr lang="es-MX" sz="2000" dirty="0">
              <a:solidFill>
                <a:srgbClr val="000000"/>
              </a:solidFill>
              <a:latin typeface="Montserrat"/>
            </a:endParaRPr>
          </a:p>
          <a:p>
            <a:pPr algn="just"/>
            <a:r>
              <a:rPr lang="es-MX" sz="2000" dirty="0">
                <a:solidFill>
                  <a:srgbClr val="000000"/>
                </a:solidFill>
                <a:latin typeface="Montserrat"/>
              </a:rPr>
              <a:t>Son parte esencial del funcionamiento de los sistemas informáticos y</a:t>
            </a:r>
            <a:r>
              <a:rPr lang="es-MX" sz="2000" b="1" dirty="0">
                <a:solidFill>
                  <a:srgbClr val="000000"/>
                </a:solidFill>
                <a:latin typeface="Montserrat"/>
              </a:rPr>
              <a:t> la pieza de software central en la cadena de procesos</a:t>
            </a:r>
            <a:r>
              <a:rPr lang="es-MX" sz="2000" dirty="0">
                <a:solidFill>
                  <a:srgbClr val="000000"/>
                </a:solidFill>
                <a:latin typeface="Montserrat"/>
              </a:rPr>
              <a:t>, ya que establecen las condiciones mínimas para que todo funcione: la administración de los recursos, el método de comunicación con el usuario y con otros sistemas, las aplicaciones adicionales.</a:t>
            </a:r>
            <a:endParaRPr lang="es-MX" sz="2000" b="0" i="0" dirty="0">
              <a:solidFill>
                <a:srgbClr val="000000"/>
              </a:solidFill>
              <a:effectLst/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191982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4702A79-BF60-4B58-973B-33A9AA4AFC53}"/>
              </a:ext>
            </a:extLst>
          </p:cNvPr>
          <p:cNvSpPr/>
          <p:nvPr/>
        </p:nvSpPr>
        <p:spPr>
          <a:xfrm>
            <a:off x="1804087" y="1859340"/>
            <a:ext cx="921814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sz="2400" b="1" dirty="0">
                <a:solidFill>
                  <a:srgbClr val="000000"/>
                </a:solidFill>
                <a:latin typeface="Montserrat"/>
              </a:rPr>
              <a:t>Funciones de un sistema operativo</a:t>
            </a:r>
          </a:p>
          <a:p>
            <a:pPr algn="just"/>
            <a:r>
              <a:rPr lang="es-MX" sz="2000" dirty="0">
                <a:solidFill>
                  <a:srgbClr val="000000"/>
                </a:solidFill>
                <a:latin typeface="Montserrat"/>
              </a:rPr>
              <a:t>Algunas de las funciones con las que cumple un sistema operativo son las siguientes:</a:t>
            </a:r>
          </a:p>
          <a:p>
            <a:pPr algn="just"/>
            <a:endParaRPr lang="es-MX" sz="2000" dirty="0">
              <a:solidFill>
                <a:srgbClr val="000000"/>
              </a:solidFill>
              <a:latin typeface="Montserrat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s-MX" sz="2000" b="1" dirty="0">
                <a:solidFill>
                  <a:srgbClr val="000000"/>
                </a:solidFill>
                <a:latin typeface="Montserrat"/>
              </a:rPr>
              <a:t>Gestionar la memoria y ejecutar las aplicaciones</a:t>
            </a:r>
            <a:r>
              <a:rPr lang="es-MX" sz="2000" dirty="0">
                <a:solidFill>
                  <a:srgbClr val="000000"/>
                </a:solidFill>
                <a:latin typeface="Montserrat"/>
              </a:rPr>
              <a:t>. El sistema operativo es el encargado de controlar la memoria de acceso aleatorio y asignar los recursos necesarios para ejecutar las aplicaciones o los programas.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s-MX" sz="2000" dirty="0">
              <a:solidFill>
                <a:srgbClr val="000000"/>
              </a:solidFill>
              <a:latin typeface="Montserrat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s-MX" sz="2000" b="1" dirty="0">
                <a:solidFill>
                  <a:srgbClr val="000000"/>
                </a:solidFill>
                <a:latin typeface="Montserrat"/>
              </a:rPr>
              <a:t>Administrar el CPU</a:t>
            </a:r>
            <a:r>
              <a:rPr lang="es-MX" sz="2000" dirty="0">
                <a:solidFill>
                  <a:srgbClr val="000000"/>
                </a:solidFill>
                <a:latin typeface="Montserrat"/>
              </a:rPr>
              <a:t>. El sistema operativo gestiona el CPU gracias a un algoritmo de programación, que le permite coordinar el uso del procesador en función de los procesos que estén activos.</a:t>
            </a:r>
            <a:endParaRPr lang="es-MX" sz="2000" b="0" i="0" dirty="0">
              <a:solidFill>
                <a:srgbClr val="000000"/>
              </a:solidFill>
              <a:effectLst/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115448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73EE7E4-D217-47EC-A71B-31132C5C7BD8}"/>
              </a:ext>
            </a:extLst>
          </p:cNvPr>
          <p:cNvSpPr/>
          <p:nvPr/>
        </p:nvSpPr>
        <p:spPr>
          <a:xfrm>
            <a:off x="1890584" y="1614780"/>
            <a:ext cx="997190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MX" b="1" dirty="0"/>
              <a:t>Direccionar las entradas y salidas de datos. </a:t>
            </a:r>
            <a:r>
              <a:rPr lang="es-MX" dirty="0"/>
              <a:t>A través de drivers, el sistema operativo maneja la comunicación con los periféricos (mouse, teclado, impresora, etc.). Todo esto lo hace por medio de los periféricos de entrada o salida.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s-MX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MX" b="1" dirty="0"/>
              <a:t>Administrar la información del sistema. </a:t>
            </a:r>
            <a:r>
              <a:rPr lang="es-MX" dirty="0"/>
              <a:t>Con el objetivo de mantener el buen funcionamiento de la PC, el sistema operativo organiza y coordina datos esenciales.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s-MX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MX" b="1" dirty="0"/>
              <a:t>Dirigir las autorizaciones de uso. </a:t>
            </a:r>
            <a:r>
              <a:rPr lang="es-MX" dirty="0"/>
              <a:t>Es el que determina y regula los permisos para los usuarios, es decir, para quienes interactúan con el sistema.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s-MX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MX" b="1" dirty="0"/>
              <a:t>Administrar los archivos. </a:t>
            </a:r>
            <a:r>
              <a:rPr lang="es-MX" dirty="0"/>
              <a:t>Esto significa que el sistema operativo es el que permite guardar, modificar, recuperar u organizar los archivos almacenados en el sistema.</a:t>
            </a:r>
          </a:p>
          <a:p>
            <a:pPr>
              <a:buFont typeface="Arial" panose="020B0604020202020204" pitchFamily="34" charset="0"/>
              <a:buChar char="•"/>
            </a:pPr>
            <a:endParaRPr lang="es-MX" dirty="0">
              <a:solidFill>
                <a:srgbClr val="000000"/>
              </a:solidFill>
              <a:latin typeface="Montserrat"/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b="0" i="0" dirty="0">
              <a:solidFill>
                <a:srgbClr val="000000"/>
              </a:solidFill>
              <a:effectLst/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967785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065950D-A338-4217-8CE1-70A72D135D97}"/>
              </a:ext>
            </a:extLst>
          </p:cNvPr>
          <p:cNvSpPr/>
          <p:nvPr/>
        </p:nvSpPr>
        <p:spPr>
          <a:xfrm>
            <a:off x="2535786" y="953184"/>
            <a:ext cx="22765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Tarea: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CA2FC59-C17F-47F8-A414-1195D7C2F217}"/>
              </a:ext>
            </a:extLst>
          </p:cNvPr>
          <p:cNvSpPr txBox="1"/>
          <p:nvPr/>
        </p:nvSpPr>
        <p:spPr>
          <a:xfrm>
            <a:off x="2903837" y="2940908"/>
            <a:ext cx="7722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Realizar una investigación a mano y en el cuaderno sobre los sistemas operativos existentes </a:t>
            </a:r>
          </a:p>
        </p:txBody>
      </p:sp>
    </p:spTree>
    <p:extLst>
      <p:ext uri="{BB962C8B-B14F-4D97-AF65-F5344CB8AC3E}">
        <p14:creationId xmlns:p14="http://schemas.microsoft.com/office/powerpoint/2010/main" val="259454505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737</TotalTime>
  <Words>878</Words>
  <Application>Microsoft Office PowerPoint</Application>
  <PresentationFormat>Panorámica</PresentationFormat>
  <Paragraphs>69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Arial</vt:lpstr>
      <vt:lpstr>Century Gothic</vt:lpstr>
      <vt:lpstr>Google Sans</vt:lpstr>
      <vt:lpstr>Montserrat</vt:lpstr>
      <vt:lpstr>Wingdings</vt:lpstr>
      <vt:lpstr>Wingdings 3</vt:lpstr>
      <vt:lpstr>Espiral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Marlon Romeo Estrada Gordillo</dc:creator>
  <cp:lastModifiedBy>Marlon Romeo Estrada Gordillo</cp:lastModifiedBy>
  <cp:revision>4</cp:revision>
  <dcterms:created xsi:type="dcterms:W3CDTF">2026-01-15T03:57:24Z</dcterms:created>
  <dcterms:modified xsi:type="dcterms:W3CDTF">2026-01-15T16:14:45Z</dcterms:modified>
</cp:coreProperties>
</file>