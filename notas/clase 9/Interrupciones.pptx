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64" r:id="rId7"/>
    <p:sldId id="260" r:id="rId8"/>
    <p:sldId id="261" r:id="rId9"/>
    <p:sldId id="262"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5652310-985F-4D3E-A14F-E998E9CDCEE5}" type="datetimeFigureOut">
              <a:rPr lang="es-MX" smtClean="0"/>
              <a:t>11/02/2026</a:t>
            </a:fld>
            <a:endParaRPr lang="es-MX"/>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s-MX"/>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A14F495D-F717-4CBD-9108-8291265A1627}" type="slidenum">
              <a:rPr lang="es-MX" smtClean="0"/>
              <a:t>‹#›</a:t>
            </a:fld>
            <a:endParaRPr lang="es-MX"/>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414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5652310-985F-4D3E-A14F-E998E9CDCEE5}" type="datetimeFigureOut">
              <a:rPr lang="es-MX" smtClean="0"/>
              <a:t>11/02/2026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14F495D-F717-4CBD-9108-8291265A1627}" type="slidenum">
              <a:rPr lang="es-MX" smtClean="0"/>
              <a:t>‹#›</a:t>
            </a:fld>
            <a:endParaRPr lang="es-MX"/>
          </a:p>
        </p:txBody>
      </p:sp>
    </p:spTree>
    <p:extLst>
      <p:ext uri="{BB962C8B-B14F-4D97-AF65-F5344CB8AC3E}">
        <p14:creationId xmlns:p14="http://schemas.microsoft.com/office/powerpoint/2010/main" val="1001937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5652310-985F-4D3E-A14F-E998E9CDCEE5}" type="datetimeFigureOut">
              <a:rPr lang="es-MX" smtClean="0"/>
              <a:t>11/02/2026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14F495D-F717-4CBD-9108-8291265A1627}" type="slidenum">
              <a:rPr lang="es-MX" smtClean="0"/>
              <a:t>‹#›</a:t>
            </a:fld>
            <a:endParaRPr lang="es-MX"/>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07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5652310-985F-4D3E-A14F-E998E9CDCEE5}" type="datetimeFigureOut">
              <a:rPr lang="es-MX" smtClean="0"/>
              <a:t>11/02/2026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A14F495D-F717-4CBD-9108-8291265A1627}" type="slidenum">
              <a:rPr lang="es-MX" smtClean="0"/>
              <a:t>‹#›</a:t>
            </a:fld>
            <a:endParaRPr lang="es-MX"/>
          </a:p>
        </p:txBody>
      </p:sp>
    </p:spTree>
    <p:extLst>
      <p:ext uri="{BB962C8B-B14F-4D97-AF65-F5344CB8AC3E}">
        <p14:creationId xmlns:p14="http://schemas.microsoft.com/office/powerpoint/2010/main" val="2834012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5652310-985F-4D3E-A14F-E998E9CDCEE5}" type="datetimeFigureOut">
              <a:rPr lang="es-MX" smtClean="0"/>
              <a:t>11/02/2026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A14F495D-F717-4CBD-9108-8291265A1627}" type="slidenum">
              <a:rPr lang="es-MX" smtClean="0"/>
              <a:t>‹#›</a:t>
            </a:fld>
            <a:endParaRPr lang="es-MX"/>
          </a:p>
        </p:txBody>
      </p:sp>
    </p:spTree>
    <p:extLst>
      <p:ext uri="{BB962C8B-B14F-4D97-AF65-F5344CB8AC3E}">
        <p14:creationId xmlns:p14="http://schemas.microsoft.com/office/powerpoint/2010/main" val="1458794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5652310-985F-4D3E-A14F-E998E9CDCEE5}" type="datetimeFigureOut">
              <a:rPr lang="es-MX" smtClean="0"/>
              <a:t>11/02/2026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A14F495D-F717-4CBD-9108-8291265A1627}" type="slidenum">
              <a:rPr lang="es-MX" smtClean="0"/>
              <a:t>‹#›</a:t>
            </a:fld>
            <a:endParaRPr lang="es-MX"/>
          </a:p>
        </p:txBody>
      </p:sp>
    </p:spTree>
    <p:extLst>
      <p:ext uri="{BB962C8B-B14F-4D97-AF65-F5344CB8AC3E}">
        <p14:creationId xmlns:p14="http://schemas.microsoft.com/office/powerpoint/2010/main" val="1977896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652310-985F-4D3E-A14F-E998E9CDCEE5}" type="datetimeFigureOut">
              <a:rPr lang="es-MX" smtClean="0"/>
              <a:t>11/02/2026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A14F495D-F717-4CBD-9108-8291265A1627}" type="slidenum">
              <a:rPr lang="es-MX" smtClean="0"/>
              <a:t>‹#›</a:t>
            </a:fld>
            <a:endParaRPr lang="es-MX"/>
          </a:p>
        </p:txBody>
      </p:sp>
    </p:spTree>
    <p:extLst>
      <p:ext uri="{BB962C8B-B14F-4D97-AF65-F5344CB8AC3E}">
        <p14:creationId xmlns:p14="http://schemas.microsoft.com/office/powerpoint/2010/main" val="1333816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5652310-985F-4D3E-A14F-E998E9CDCEE5}" type="datetimeFigureOut">
              <a:rPr lang="es-MX" smtClean="0"/>
              <a:t>11/02/2026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A14F495D-F717-4CBD-9108-8291265A1627}" type="slidenum">
              <a:rPr lang="es-MX" smtClean="0"/>
              <a:t>‹#›</a:t>
            </a:fld>
            <a:endParaRPr lang="es-MX"/>
          </a:p>
        </p:txBody>
      </p:sp>
    </p:spTree>
    <p:extLst>
      <p:ext uri="{BB962C8B-B14F-4D97-AF65-F5344CB8AC3E}">
        <p14:creationId xmlns:p14="http://schemas.microsoft.com/office/powerpoint/2010/main" val="373500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5652310-985F-4D3E-A14F-E998E9CDCEE5}" type="datetimeFigureOut">
              <a:rPr lang="es-MX" smtClean="0"/>
              <a:t>11/02/2026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A14F495D-F717-4CBD-9108-8291265A1627}" type="slidenum">
              <a:rPr lang="es-MX" smtClean="0"/>
              <a:t>‹#›</a:t>
            </a:fld>
            <a:endParaRPr lang="es-MX"/>
          </a:p>
        </p:txBody>
      </p:sp>
    </p:spTree>
    <p:extLst>
      <p:ext uri="{BB962C8B-B14F-4D97-AF65-F5344CB8AC3E}">
        <p14:creationId xmlns:p14="http://schemas.microsoft.com/office/powerpoint/2010/main" val="14869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5652310-985F-4D3E-A14F-E998E9CDCEE5}" type="datetimeFigureOut">
              <a:rPr lang="es-MX" smtClean="0"/>
              <a:t>11/02/2026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14F495D-F717-4CBD-9108-8291265A1627}" type="slidenum">
              <a:rPr lang="es-MX" smtClean="0"/>
              <a:t>‹#›</a:t>
            </a:fld>
            <a:endParaRPr lang="es-MX"/>
          </a:p>
        </p:txBody>
      </p:sp>
    </p:spTree>
    <p:extLst>
      <p:ext uri="{BB962C8B-B14F-4D97-AF65-F5344CB8AC3E}">
        <p14:creationId xmlns:p14="http://schemas.microsoft.com/office/powerpoint/2010/main" val="629454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5652310-985F-4D3E-A14F-E998E9CDCEE5}" type="datetimeFigureOut">
              <a:rPr lang="es-MX" smtClean="0"/>
              <a:t>11/02/2026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A14F495D-F717-4CBD-9108-8291265A1627}" type="slidenum">
              <a:rPr lang="es-MX" smtClean="0"/>
              <a:t>‹#›</a:t>
            </a:fld>
            <a:endParaRPr lang="es-MX"/>
          </a:p>
        </p:txBody>
      </p:sp>
    </p:spTree>
    <p:extLst>
      <p:ext uri="{BB962C8B-B14F-4D97-AF65-F5344CB8AC3E}">
        <p14:creationId xmlns:p14="http://schemas.microsoft.com/office/powerpoint/2010/main" val="3791993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15652310-985F-4D3E-A14F-E998E9CDCEE5}" type="datetimeFigureOut">
              <a:rPr lang="es-MX" smtClean="0"/>
              <a:t>11/02/2026</a:t>
            </a:fld>
            <a:endParaRPr lang="es-MX"/>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s-MX"/>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A14F495D-F717-4CBD-9108-8291265A1627}" type="slidenum">
              <a:rPr lang="es-MX" smtClean="0"/>
              <a:t>‹#›</a:t>
            </a:fld>
            <a:endParaRPr lang="es-MX"/>
          </a:p>
        </p:txBody>
      </p:sp>
    </p:spTree>
    <p:extLst>
      <p:ext uri="{BB962C8B-B14F-4D97-AF65-F5344CB8AC3E}">
        <p14:creationId xmlns:p14="http://schemas.microsoft.com/office/powerpoint/2010/main" val="28017092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phoenixnap.mx/glosario/definicion-de-cpu"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422E63C-BADD-4C60-A217-83F9F26CA4B2}"/>
              </a:ext>
            </a:extLst>
          </p:cNvPr>
          <p:cNvSpPr/>
          <p:nvPr/>
        </p:nvSpPr>
        <p:spPr>
          <a:xfrm>
            <a:off x="3720991" y="2868481"/>
            <a:ext cx="4750018" cy="923330"/>
          </a:xfrm>
          <a:prstGeom prst="rect">
            <a:avLst/>
          </a:prstGeom>
          <a:noFill/>
        </p:spPr>
        <p:txBody>
          <a:bodyPr wrap="none" lIns="91440" tIns="45720" rIns="91440" bIns="45720">
            <a:spAutoFit/>
          </a:bodyPr>
          <a:lstStyle/>
          <a:p>
            <a:pPr algn="ctr"/>
            <a:r>
              <a:rPr lang="es-E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Interrupciones </a:t>
            </a:r>
          </a:p>
        </p:txBody>
      </p:sp>
    </p:spTree>
    <p:extLst>
      <p:ext uri="{BB962C8B-B14F-4D97-AF65-F5344CB8AC3E}">
        <p14:creationId xmlns:p14="http://schemas.microsoft.com/office/powerpoint/2010/main" val="4207215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22CDEEC-7F51-4F77-AEFD-931E39A61D89}"/>
              </a:ext>
            </a:extLst>
          </p:cNvPr>
          <p:cNvPicPr>
            <a:picLocks noChangeAspect="1"/>
          </p:cNvPicPr>
          <p:nvPr/>
        </p:nvPicPr>
        <p:blipFill>
          <a:blip r:embed="rId2"/>
          <a:stretch>
            <a:fillRect/>
          </a:stretch>
        </p:blipFill>
        <p:spPr>
          <a:xfrm>
            <a:off x="283628" y="1013255"/>
            <a:ext cx="11624744" cy="5041556"/>
          </a:xfrm>
          <a:prstGeom prst="rect">
            <a:avLst/>
          </a:prstGeom>
        </p:spPr>
      </p:pic>
    </p:spTree>
    <p:extLst>
      <p:ext uri="{BB962C8B-B14F-4D97-AF65-F5344CB8AC3E}">
        <p14:creationId xmlns:p14="http://schemas.microsoft.com/office/powerpoint/2010/main" val="3052410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7808C72-553C-426D-B3A5-792762C40E75}"/>
              </a:ext>
            </a:extLst>
          </p:cNvPr>
          <p:cNvSpPr/>
          <p:nvPr/>
        </p:nvSpPr>
        <p:spPr>
          <a:xfrm>
            <a:off x="251253" y="208165"/>
            <a:ext cx="11689492" cy="2185214"/>
          </a:xfrm>
          <a:prstGeom prst="rect">
            <a:avLst/>
          </a:prstGeom>
        </p:spPr>
        <p:txBody>
          <a:bodyPr wrap="square">
            <a:spAutoFit/>
          </a:bodyPr>
          <a:lstStyle/>
          <a:p>
            <a:r>
              <a:rPr lang="es-MX" sz="2800" b="1" dirty="0">
                <a:solidFill>
                  <a:srgbClr val="404040"/>
                </a:solidFill>
                <a:latin typeface="Poppins"/>
              </a:rPr>
              <a:t>¿Qué es una IRQ (solicitud de interrupción)?</a:t>
            </a:r>
          </a:p>
          <a:p>
            <a:pPr algn="just"/>
            <a:r>
              <a:rPr lang="es-MX" dirty="0">
                <a:solidFill>
                  <a:srgbClr val="404040"/>
                </a:solidFill>
                <a:latin typeface="Roboto"/>
              </a:rPr>
              <a:t>Una solicitud de interrupción es una señal controlada por hardware que utilizan los dispositivos para interrumpir la ejecución normal de las tareas de un procesador con el fin de captar su atención y solicitar un procesamiento inmediato. Cuando un dispositivo, como un teclado, una tarjeta de red o un temporizador, necesita... </a:t>
            </a:r>
            <a:r>
              <a:rPr lang="es-MX" dirty="0">
                <a:solidFill>
                  <a:srgbClr val="0074DB"/>
                </a:solidFill>
                <a:latin typeface="Roboto"/>
                <a:hlinkClick r:id="rId2"/>
              </a:rPr>
              <a:t>CPU</a:t>
            </a:r>
            <a:r>
              <a:rPr lang="es-MX" dirty="0">
                <a:solidFill>
                  <a:srgbClr val="404040"/>
                </a:solidFill>
                <a:latin typeface="Roboto"/>
              </a:rPr>
              <a:t> Para gestionar una tarea específica, como procesar la entrada del usuario o responder a una transferencia de datos, genera una IRQ. Esta señal de interrupción detiene temporalmente las operaciones que ejecuta el procesador, lo que le permite cambiar el enfoque y ejecutar las instrucciones relacionadas con la solicitud del dispositivo.</a:t>
            </a:r>
            <a:endParaRPr lang="es-MX" b="0" i="0" dirty="0">
              <a:solidFill>
                <a:srgbClr val="404040"/>
              </a:solidFill>
              <a:effectLst/>
              <a:latin typeface="Roboto"/>
            </a:endParaRPr>
          </a:p>
        </p:txBody>
      </p:sp>
      <p:pic>
        <p:nvPicPr>
          <p:cNvPr id="3" name="Imagen 2">
            <a:extLst>
              <a:ext uri="{FF2B5EF4-FFF2-40B4-BE49-F238E27FC236}">
                <a16:creationId xmlns:a16="http://schemas.microsoft.com/office/drawing/2014/main" id="{735985F8-EC0A-4C6E-9396-BAA610FA2C82}"/>
              </a:ext>
            </a:extLst>
          </p:cNvPr>
          <p:cNvPicPr>
            <a:picLocks noChangeAspect="1"/>
          </p:cNvPicPr>
          <p:nvPr/>
        </p:nvPicPr>
        <p:blipFill>
          <a:blip r:embed="rId3"/>
          <a:stretch>
            <a:fillRect/>
          </a:stretch>
        </p:blipFill>
        <p:spPr>
          <a:xfrm>
            <a:off x="3332786" y="2393379"/>
            <a:ext cx="5502295" cy="4149619"/>
          </a:xfrm>
          <a:prstGeom prst="rect">
            <a:avLst/>
          </a:prstGeom>
        </p:spPr>
      </p:pic>
    </p:spTree>
    <p:extLst>
      <p:ext uri="{BB962C8B-B14F-4D97-AF65-F5344CB8AC3E}">
        <p14:creationId xmlns:p14="http://schemas.microsoft.com/office/powerpoint/2010/main" val="2401036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A074A78-3FBA-4E0D-97D9-7E8BD928C839}"/>
              </a:ext>
            </a:extLst>
          </p:cNvPr>
          <p:cNvPicPr>
            <a:picLocks noChangeAspect="1"/>
          </p:cNvPicPr>
          <p:nvPr/>
        </p:nvPicPr>
        <p:blipFill>
          <a:blip r:embed="rId2"/>
          <a:stretch>
            <a:fillRect/>
          </a:stretch>
        </p:blipFill>
        <p:spPr>
          <a:xfrm>
            <a:off x="381000" y="260828"/>
            <a:ext cx="11430000" cy="6336344"/>
          </a:xfrm>
          <a:prstGeom prst="rect">
            <a:avLst/>
          </a:prstGeom>
        </p:spPr>
      </p:pic>
    </p:spTree>
    <p:extLst>
      <p:ext uri="{BB962C8B-B14F-4D97-AF65-F5344CB8AC3E}">
        <p14:creationId xmlns:p14="http://schemas.microsoft.com/office/powerpoint/2010/main" val="1439390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7EB96F0-9C09-4E79-9554-AE9E29D577E1}"/>
              </a:ext>
            </a:extLst>
          </p:cNvPr>
          <p:cNvSpPr/>
          <p:nvPr/>
        </p:nvSpPr>
        <p:spPr>
          <a:xfrm>
            <a:off x="1087395" y="1120676"/>
            <a:ext cx="7006281" cy="2308324"/>
          </a:xfrm>
          <a:prstGeom prst="rect">
            <a:avLst/>
          </a:prstGeom>
        </p:spPr>
        <p:txBody>
          <a:bodyPr wrap="square">
            <a:spAutoFit/>
          </a:bodyPr>
          <a:lstStyle/>
          <a:p>
            <a:r>
              <a:rPr lang="es-MX" dirty="0"/>
              <a:t>#</a:t>
            </a:r>
            <a:r>
              <a:rPr lang="es-MX" dirty="0" err="1"/>
              <a:t>include</a:t>
            </a:r>
            <a:r>
              <a:rPr lang="es-MX" dirty="0"/>
              <a:t> &lt;</a:t>
            </a:r>
            <a:r>
              <a:rPr lang="es-MX" dirty="0" err="1"/>
              <a:t>unistd.h</a:t>
            </a:r>
            <a:r>
              <a:rPr lang="es-MX" dirty="0"/>
              <a:t>&gt;</a:t>
            </a:r>
          </a:p>
          <a:p>
            <a:r>
              <a:rPr lang="es-MX" dirty="0"/>
              <a:t>#</a:t>
            </a:r>
            <a:r>
              <a:rPr lang="es-MX" dirty="0" err="1"/>
              <a:t>include</a:t>
            </a:r>
            <a:r>
              <a:rPr lang="es-MX" dirty="0"/>
              <a:t> &lt;</a:t>
            </a:r>
            <a:r>
              <a:rPr lang="es-MX" dirty="0" err="1"/>
              <a:t>string.h</a:t>
            </a:r>
            <a:r>
              <a:rPr lang="es-MX" dirty="0"/>
              <a:t>&gt;</a:t>
            </a:r>
          </a:p>
          <a:p>
            <a:endParaRPr lang="es-MX" dirty="0"/>
          </a:p>
          <a:p>
            <a:r>
              <a:rPr lang="es-MX" dirty="0" err="1"/>
              <a:t>int</a:t>
            </a:r>
            <a:r>
              <a:rPr lang="es-MX" dirty="0"/>
              <a:t> </a:t>
            </a:r>
            <a:r>
              <a:rPr lang="es-MX" dirty="0" err="1"/>
              <a:t>main</a:t>
            </a:r>
            <a:r>
              <a:rPr lang="es-MX" dirty="0"/>
              <a:t>() {</a:t>
            </a:r>
          </a:p>
          <a:p>
            <a:r>
              <a:rPr lang="es-MX" dirty="0"/>
              <a:t>    </a:t>
            </a:r>
            <a:r>
              <a:rPr lang="es-MX" dirty="0" err="1"/>
              <a:t>const</a:t>
            </a:r>
            <a:r>
              <a:rPr lang="es-MX" dirty="0"/>
              <a:t> </a:t>
            </a:r>
            <a:r>
              <a:rPr lang="es-MX" dirty="0" err="1"/>
              <a:t>char</a:t>
            </a:r>
            <a:r>
              <a:rPr lang="es-MX" dirty="0"/>
              <a:t> *</a:t>
            </a:r>
            <a:r>
              <a:rPr lang="es-MX" dirty="0" err="1"/>
              <a:t>msg</a:t>
            </a:r>
            <a:r>
              <a:rPr lang="es-MX" dirty="0"/>
              <a:t> = "Hola desde una llamada al sistema\n";</a:t>
            </a:r>
          </a:p>
          <a:p>
            <a:r>
              <a:rPr lang="es-MX" dirty="0"/>
              <a:t>    </a:t>
            </a:r>
            <a:r>
              <a:rPr lang="es-MX" dirty="0" err="1"/>
              <a:t>write</a:t>
            </a:r>
            <a:r>
              <a:rPr lang="es-MX" dirty="0"/>
              <a:t>(1, </a:t>
            </a:r>
            <a:r>
              <a:rPr lang="es-MX" dirty="0" err="1"/>
              <a:t>msg</a:t>
            </a:r>
            <a:r>
              <a:rPr lang="es-MX" dirty="0"/>
              <a:t>, </a:t>
            </a:r>
            <a:r>
              <a:rPr lang="es-MX" dirty="0" err="1"/>
              <a:t>strlen</a:t>
            </a:r>
            <a:r>
              <a:rPr lang="es-MX" dirty="0"/>
              <a:t>(</a:t>
            </a:r>
            <a:r>
              <a:rPr lang="es-MX" dirty="0" err="1"/>
              <a:t>msg</a:t>
            </a:r>
            <a:r>
              <a:rPr lang="es-MX" dirty="0"/>
              <a:t>));</a:t>
            </a:r>
          </a:p>
          <a:p>
            <a:r>
              <a:rPr lang="es-MX" dirty="0"/>
              <a:t>    </a:t>
            </a:r>
            <a:r>
              <a:rPr lang="es-MX" dirty="0" err="1"/>
              <a:t>return</a:t>
            </a:r>
            <a:r>
              <a:rPr lang="es-MX" dirty="0"/>
              <a:t> 0;</a:t>
            </a:r>
          </a:p>
          <a:p>
            <a:r>
              <a:rPr lang="es-MX" dirty="0"/>
              <a:t>}</a:t>
            </a:r>
          </a:p>
        </p:txBody>
      </p:sp>
      <p:sp>
        <p:nvSpPr>
          <p:cNvPr id="3" name="Rectángulo 2">
            <a:extLst>
              <a:ext uri="{FF2B5EF4-FFF2-40B4-BE49-F238E27FC236}">
                <a16:creationId xmlns:a16="http://schemas.microsoft.com/office/drawing/2014/main" id="{50573350-5798-4A1B-A129-92DED089269B}"/>
              </a:ext>
            </a:extLst>
          </p:cNvPr>
          <p:cNvSpPr/>
          <p:nvPr/>
        </p:nvSpPr>
        <p:spPr>
          <a:xfrm>
            <a:off x="1087395" y="612345"/>
            <a:ext cx="3760966" cy="369332"/>
          </a:xfrm>
          <a:prstGeom prst="rect">
            <a:avLst/>
          </a:prstGeom>
        </p:spPr>
        <p:txBody>
          <a:bodyPr wrap="none">
            <a:spAutoFit/>
          </a:bodyPr>
          <a:lstStyle/>
          <a:p>
            <a:r>
              <a:rPr lang="es-MX" dirty="0"/>
              <a:t>Interrupción de software (</a:t>
            </a:r>
            <a:r>
              <a:rPr lang="es-MX" dirty="0" err="1"/>
              <a:t>system</a:t>
            </a:r>
            <a:r>
              <a:rPr lang="es-MX" dirty="0"/>
              <a:t> </a:t>
            </a:r>
            <a:r>
              <a:rPr lang="es-MX" dirty="0" err="1"/>
              <a:t>call</a:t>
            </a:r>
            <a:r>
              <a:rPr lang="es-MX" dirty="0"/>
              <a:t>)</a:t>
            </a:r>
          </a:p>
        </p:txBody>
      </p:sp>
      <p:sp>
        <p:nvSpPr>
          <p:cNvPr id="5" name="Rectángulo 4">
            <a:extLst>
              <a:ext uri="{FF2B5EF4-FFF2-40B4-BE49-F238E27FC236}">
                <a16:creationId xmlns:a16="http://schemas.microsoft.com/office/drawing/2014/main" id="{096CFFAF-E8AE-4185-B24E-B3D652BFE6C1}"/>
              </a:ext>
            </a:extLst>
          </p:cNvPr>
          <p:cNvSpPr/>
          <p:nvPr/>
        </p:nvSpPr>
        <p:spPr>
          <a:xfrm>
            <a:off x="3171568" y="3827157"/>
            <a:ext cx="6096000" cy="2031325"/>
          </a:xfrm>
          <a:prstGeom prst="rect">
            <a:avLst/>
          </a:prstGeom>
        </p:spPr>
        <p:txBody>
          <a:bodyPr>
            <a:spAutoFit/>
          </a:bodyPr>
          <a:lstStyle/>
          <a:p>
            <a:pPr algn="just"/>
            <a:r>
              <a:rPr lang="es-MX" b="1" dirty="0"/>
              <a:t>Qué pasa internamente:</a:t>
            </a:r>
          </a:p>
          <a:p>
            <a:pPr algn="just"/>
            <a:r>
              <a:rPr lang="es-MX" b="1" dirty="0"/>
              <a:t>El proceso ejecuta </a:t>
            </a:r>
            <a:r>
              <a:rPr lang="es-MX" b="1" dirty="0" err="1"/>
              <a:t>write</a:t>
            </a:r>
            <a:r>
              <a:rPr lang="es-MX" b="1" dirty="0"/>
              <a:t>(), La </a:t>
            </a:r>
            <a:r>
              <a:rPr lang="es-MX" b="1" dirty="0" err="1"/>
              <a:t>libc</a:t>
            </a:r>
            <a:r>
              <a:rPr lang="es-MX" b="1" dirty="0"/>
              <a:t> ejecuta la instrucción </a:t>
            </a:r>
            <a:r>
              <a:rPr lang="es-MX" b="1" dirty="0" err="1"/>
              <a:t>syscall</a:t>
            </a:r>
            <a:r>
              <a:rPr lang="es-MX" b="1" dirty="0"/>
              <a:t>, se genera una interrupción de </a:t>
            </a:r>
            <a:r>
              <a:rPr lang="es-MX" b="1" dirty="0" err="1"/>
              <a:t>softwareLa</a:t>
            </a:r>
            <a:r>
              <a:rPr lang="es-MX" b="1" dirty="0"/>
              <a:t> CPU cambia a modo </a:t>
            </a:r>
            <a:r>
              <a:rPr lang="es-MX" b="1" dirty="0" err="1"/>
              <a:t>kernel</a:t>
            </a:r>
            <a:r>
              <a:rPr lang="es-MX" b="1" dirty="0"/>
              <a:t>, el </a:t>
            </a:r>
            <a:r>
              <a:rPr lang="es-MX" b="1" dirty="0" err="1"/>
              <a:t>kernel</a:t>
            </a:r>
            <a:r>
              <a:rPr lang="es-MX" b="1" dirty="0"/>
              <a:t> ejecuta el </a:t>
            </a:r>
            <a:r>
              <a:rPr lang="es-MX" b="1" dirty="0" err="1"/>
              <a:t>handler</a:t>
            </a:r>
            <a:r>
              <a:rPr lang="es-MX" b="1" dirty="0"/>
              <a:t> de </a:t>
            </a:r>
            <a:r>
              <a:rPr lang="es-MX" b="1" dirty="0" err="1"/>
              <a:t>sys_write</a:t>
            </a:r>
            <a:r>
              <a:rPr lang="es-MX" b="1" dirty="0"/>
              <a:t>, se vuelve a modo usuario</a:t>
            </a:r>
          </a:p>
          <a:p>
            <a:pPr algn="just"/>
            <a:endParaRPr lang="es-MX" b="1" dirty="0"/>
          </a:p>
          <a:p>
            <a:pPr algn="just"/>
            <a:r>
              <a:rPr lang="es-MX" b="1" dirty="0"/>
              <a:t>👉 Esto es una interrupción de software síncrona.</a:t>
            </a:r>
          </a:p>
        </p:txBody>
      </p:sp>
    </p:spTree>
    <p:extLst>
      <p:ext uri="{BB962C8B-B14F-4D97-AF65-F5344CB8AC3E}">
        <p14:creationId xmlns:p14="http://schemas.microsoft.com/office/powerpoint/2010/main" val="2413248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DE129FD-A72D-4DAB-BCC3-39E68A05C208}"/>
              </a:ext>
            </a:extLst>
          </p:cNvPr>
          <p:cNvSpPr/>
          <p:nvPr/>
        </p:nvSpPr>
        <p:spPr>
          <a:xfrm>
            <a:off x="799071" y="716849"/>
            <a:ext cx="6096000" cy="5078313"/>
          </a:xfrm>
          <a:prstGeom prst="rect">
            <a:avLst/>
          </a:prstGeom>
        </p:spPr>
        <p:txBody>
          <a:bodyPr>
            <a:spAutoFit/>
          </a:bodyPr>
          <a:lstStyle/>
          <a:p>
            <a:r>
              <a:rPr lang="es-MX" dirty="0"/>
              <a:t>#</a:t>
            </a:r>
            <a:r>
              <a:rPr lang="es-MX" dirty="0" err="1"/>
              <a:t>include</a:t>
            </a:r>
            <a:r>
              <a:rPr lang="es-MX" dirty="0"/>
              <a:t> &lt;</a:t>
            </a:r>
            <a:r>
              <a:rPr lang="es-MX" dirty="0" err="1"/>
              <a:t>stdio.h</a:t>
            </a:r>
            <a:r>
              <a:rPr lang="es-MX" dirty="0"/>
              <a:t>&gt;</a:t>
            </a:r>
          </a:p>
          <a:p>
            <a:r>
              <a:rPr lang="es-MX" dirty="0"/>
              <a:t>#</a:t>
            </a:r>
            <a:r>
              <a:rPr lang="es-MX" dirty="0" err="1"/>
              <a:t>include</a:t>
            </a:r>
            <a:r>
              <a:rPr lang="es-MX" dirty="0"/>
              <a:t> &lt;</a:t>
            </a:r>
            <a:r>
              <a:rPr lang="es-MX" dirty="0" err="1"/>
              <a:t>signal.h</a:t>
            </a:r>
            <a:r>
              <a:rPr lang="es-MX" dirty="0"/>
              <a:t>&gt;</a:t>
            </a:r>
          </a:p>
          <a:p>
            <a:r>
              <a:rPr lang="es-MX" dirty="0"/>
              <a:t>#</a:t>
            </a:r>
            <a:r>
              <a:rPr lang="es-MX" dirty="0" err="1"/>
              <a:t>include</a:t>
            </a:r>
            <a:r>
              <a:rPr lang="es-MX" dirty="0"/>
              <a:t> &lt;</a:t>
            </a:r>
            <a:r>
              <a:rPr lang="es-MX" dirty="0" err="1"/>
              <a:t>unistd.h</a:t>
            </a:r>
            <a:r>
              <a:rPr lang="es-MX" dirty="0"/>
              <a:t>&gt;</a:t>
            </a:r>
          </a:p>
          <a:p>
            <a:endParaRPr lang="es-MX" dirty="0"/>
          </a:p>
          <a:p>
            <a:r>
              <a:rPr lang="es-MX" dirty="0" err="1"/>
              <a:t>void</a:t>
            </a:r>
            <a:r>
              <a:rPr lang="es-MX" dirty="0"/>
              <a:t> </a:t>
            </a:r>
            <a:r>
              <a:rPr lang="es-MX" dirty="0" err="1"/>
              <a:t>handler</a:t>
            </a:r>
            <a:r>
              <a:rPr lang="es-MX" dirty="0"/>
              <a:t>(</a:t>
            </a:r>
            <a:r>
              <a:rPr lang="es-MX" dirty="0" err="1"/>
              <a:t>int</a:t>
            </a:r>
            <a:r>
              <a:rPr lang="es-MX" dirty="0"/>
              <a:t> </a:t>
            </a:r>
            <a:r>
              <a:rPr lang="es-MX" dirty="0" err="1"/>
              <a:t>sig</a:t>
            </a:r>
            <a:r>
              <a:rPr lang="es-MX" dirty="0"/>
              <a:t>) {</a:t>
            </a:r>
          </a:p>
          <a:p>
            <a:r>
              <a:rPr lang="es-MX" dirty="0"/>
              <a:t>    </a:t>
            </a:r>
            <a:r>
              <a:rPr lang="es-MX" dirty="0" err="1"/>
              <a:t>printf</a:t>
            </a:r>
            <a:r>
              <a:rPr lang="es-MX" dirty="0"/>
              <a:t>("Interrupción de temporizador recibida (SIGALRM)\n");</a:t>
            </a:r>
          </a:p>
          <a:p>
            <a:r>
              <a:rPr lang="es-MX" dirty="0"/>
              <a:t>}</a:t>
            </a:r>
          </a:p>
          <a:p>
            <a:endParaRPr lang="es-MX" dirty="0"/>
          </a:p>
          <a:p>
            <a:r>
              <a:rPr lang="es-MX" dirty="0" err="1"/>
              <a:t>int</a:t>
            </a:r>
            <a:r>
              <a:rPr lang="es-MX" dirty="0"/>
              <a:t> </a:t>
            </a:r>
            <a:r>
              <a:rPr lang="es-MX" dirty="0" err="1"/>
              <a:t>main</a:t>
            </a:r>
            <a:r>
              <a:rPr lang="es-MX" dirty="0"/>
              <a:t>() {</a:t>
            </a:r>
          </a:p>
          <a:p>
            <a:r>
              <a:rPr lang="es-MX" dirty="0"/>
              <a:t>    </a:t>
            </a:r>
            <a:r>
              <a:rPr lang="es-MX" dirty="0" err="1"/>
              <a:t>signal</a:t>
            </a:r>
            <a:r>
              <a:rPr lang="es-MX" dirty="0"/>
              <a:t>(SIGALRM, </a:t>
            </a:r>
            <a:r>
              <a:rPr lang="es-MX" dirty="0" err="1"/>
              <a:t>handler</a:t>
            </a:r>
            <a:r>
              <a:rPr lang="es-MX" dirty="0"/>
              <a:t>);</a:t>
            </a:r>
          </a:p>
          <a:p>
            <a:r>
              <a:rPr lang="es-MX" dirty="0"/>
              <a:t>    </a:t>
            </a:r>
            <a:r>
              <a:rPr lang="es-MX" dirty="0" err="1"/>
              <a:t>alarm</a:t>
            </a:r>
            <a:r>
              <a:rPr lang="es-MX" dirty="0"/>
              <a:t>(3);  // temporizador de 3 segundos</a:t>
            </a:r>
          </a:p>
          <a:p>
            <a:endParaRPr lang="es-MX" dirty="0"/>
          </a:p>
          <a:p>
            <a:r>
              <a:rPr lang="es-MX" dirty="0"/>
              <a:t>    </a:t>
            </a:r>
            <a:r>
              <a:rPr lang="es-MX" dirty="0" err="1"/>
              <a:t>while</a:t>
            </a:r>
            <a:r>
              <a:rPr lang="es-MX" dirty="0"/>
              <a:t> (1) {</a:t>
            </a:r>
          </a:p>
          <a:p>
            <a:r>
              <a:rPr lang="es-MX" dirty="0"/>
              <a:t>        </a:t>
            </a:r>
            <a:r>
              <a:rPr lang="es-MX" dirty="0" err="1"/>
              <a:t>printf</a:t>
            </a:r>
            <a:r>
              <a:rPr lang="es-MX" dirty="0"/>
              <a:t>("Proceso ejecutándose...\n");</a:t>
            </a:r>
          </a:p>
          <a:p>
            <a:r>
              <a:rPr lang="es-MX" dirty="0"/>
              <a:t>        </a:t>
            </a:r>
            <a:r>
              <a:rPr lang="es-MX" dirty="0" err="1"/>
              <a:t>sleep</a:t>
            </a:r>
            <a:r>
              <a:rPr lang="es-MX" dirty="0"/>
              <a:t>(1);</a:t>
            </a:r>
          </a:p>
          <a:p>
            <a:r>
              <a:rPr lang="es-MX" dirty="0"/>
              <a:t>    }</a:t>
            </a:r>
          </a:p>
          <a:p>
            <a:r>
              <a:rPr lang="es-MX" dirty="0"/>
              <a:t>}</a:t>
            </a:r>
          </a:p>
        </p:txBody>
      </p:sp>
      <p:sp>
        <p:nvSpPr>
          <p:cNvPr id="4" name="Rectángulo 3">
            <a:extLst>
              <a:ext uri="{FF2B5EF4-FFF2-40B4-BE49-F238E27FC236}">
                <a16:creationId xmlns:a16="http://schemas.microsoft.com/office/drawing/2014/main" id="{E259045D-3FDF-4267-959B-5D8DF280D055}"/>
              </a:ext>
            </a:extLst>
          </p:cNvPr>
          <p:cNvSpPr/>
          <p:nvPr/>
        </p:nvSpPr>
        <p:spPr>
          <a:xfrm>
            <a:off x="5708821" y="2551837"/>
            <a:ext cx="6264876" cy="1754326"/>
          </a:xfrm>
          <a:prstGeom prst="rect">
            <a:avLst/>
          </a:prstGeom>
        </p:spPr>
        <p:txBody>
          <a:bodyPr wrap="square">
            <a:spAutoFit/>
          </a:bodyPr>
          <a:lstStyle/>
          <a:p>
            <a:r>
              <a:rPr lang="es-MX" b="1" dirty="0"/>
              <a:t>Qué pasa internamente: </a:t>
            </a:r>
          </a:p>
          <a:p>
            <a:r>
              <a:rPr lang="es-MX" b="1" dirty="0"/>
              <a:t>El </a:t>
            </a:r>
            <a:r>
              <a:rPr lang="es-MX" b="1" dirty="0" err="1"/>
              <a:t>kernel</a:t>
            </a:r>
            <a:r>
              <a:rPr lang="es-MX" b="1" dirty="0"/>
              <a:t> programa un temporizador, el hardware </a:t>
            </a:r>
            <a:r>
              <a:rPr lang="es-MX" b="1" dirty="0" err="1"/>
              <a:t>timer</a:t>
            </a:r>
            <a:r>
              <a:rPr lang="es-MX" b="1" dirty="0"/>
              <a:t> genera interrupciones, al expirar, el </a:t>
            </a:r>
            <a:r>
              <a:rPr lang="es-MX" b="1" dirty="0" err="1"/>
              <a:t>kernel</a:t>
            </a:r>
            <a:r>
              <a:rPr lang="es-MX" b="1" dirty="0"/>
              <a:t> envía </a:t>
            </a:r>
            <a:r>
              <a:rPr lang="es-MX" b="1" dirty="0" err="1"/>
              <a:t>SIGALRMEl</a:t>
            </a:r>
            <a:r>
              <a:rPr lang="es-MX" b="1" dirty="0"/>
              <a:t> proceso es interrumpido, se ejecuta el </a:t>
            </a:r>
            <a:r>
              <a:rPr lang="es-MX" b="1" dirty="0" err="1"/>
              <a:t>handler</a:t>
            </a:r>
            <a:endParaRPr lang="es-MX" b="1" dirty="0"/>
          </a:p>
          <a:p>
            <a:endParaRPr lang="es-MX" b="1" dirty="0"/>
          </a:p>
          <a:p>
            <a:r>
              <a:rPr lang="es-MX" b="1" dirty="0"/>
              <a:t>👉 Interrupción de temporizador + señal.</a:t>
            </a:r>
          </a:p>
        </p:txBody>
      </p:sp>
    </p:spTree>
    <p:extLst>
      <p:ext uri="{BB962C8B-B14F-4D97-AF65-F5344CB8AC3E}">
        <p14:creationId xmlns:p14="http://schemas.microsoft.com/office/powerpoint/2010/main" val="1628552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ED5BCE2-E936-4154-9B06-CD3657C07FE2}"/>
              </a:ext>
            </a:extLst>
          </p:cNvPr>
          <p:cNvPicPr>
            <a:picLocks noChangeAspect="1"/>
          </p:cNvPicPr>
          <p:nvPr/>
        </p:nvPicPr>
        <p:blipFill>
          <a:blip r:embed="rId2"/>
          <a:stretch>
            <a:fillRect/>
          </a:stretch>
        </p:blipFill>
        <p:spPr>
          <a:xfrm>
            <a:off x="333632" y="689514"/>
            <a:ext cx="11493560" cy="5464151"/>
          </a:xfrm>
          <a:prstGeom prst="rect">
            <a:avLst/>
          </a:prstGeom>
        </p:spPr>
      </p:pic>
    </p:spTree>
    <p:extLst>
      <p:ext uri="{BB962C8B-B14F-4D97-AF65-F5344CB8AC3E}">
        <p14:creationId xmlns:p14="http://schemas.microsoft.com/office/powerpoint/2010/main" val="3926975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0DFF9DD-0786-46D7-869E-CA357D5FA986}"/>
              </a:ext>
            </a:extLst>
          </p:cNvPr>
          <p:cNvPicPr>
            <a:picLocks noChangeAspect="1"/>
          </p:cNvPicPr>
          <p:nvPr/>
        </p:nvPicPr>
        <p:blipFill>
          <a:blip r:embed="rId2"/>
          <a:stretch>
            <a:fillRect/>
          </a:stretch>
        </p:blipFill>
        <p:spPr>
          <a:xfrm>
            <a:off x="321275" y="229490"/>
            <a:ext cx="11615351" cy="6435533"/>
          </a:xfrm>
          <a:prstGeom prst="rect">
            <a:avLst/>
          </a:prstGeom>
        </p:spPr>
      </p:pic>
    </p:spTree>
    <p:extLst>
      <p:ext uri="{BB962C8B-B14F-4D97-AF65-F5344CB8AC3E}">
        <p14:creationId xmlns:p14="http://schemas.microsoft.com/office/powerpoint/2010/main" val="163032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FC9424E-EBA5-4DEF-8E60-5EDE55688F91}"/>
              </a:ext>
            </a:extLst>
          </p:cNvPr>
          <p:cNvPicPr>
            <a:picLocks noChangeAspect="1"/>
          </p:cNvPicPr>
          <p:nvPr/>
        </p:nvPicPr>
        <p:blipFill>
          <a:blip r:embed="rId2"/>
          <a:stretch>
            <a:fillRect/>
          </a:stretch>
        </p:blipFill>
        <p:spPr>
          <a:xfrm>
            <a:off x="405713" y="295977"/>
            <a:ext cx="11380573" cy="6266045"/>
          </a:xfrm>
          <a:prstGeom prst="rect">
            <a:avLst/>
          </a:prstGeom>
        </p:spPr>
      </p:pic>
    </p:spTree>
    <p:extLst>
      <p:ext uri="{BB962C8B-B14F-4D97-AF65-F5344CB8AC3E}">
        <p14:creationId xmlns:p14="http://schemas.microsoft.com/office/powerpoint/2010/main" val="715589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AB597C8-6CE0-46E3-A606-E9DBD6ACF2B7}"/>
              </a:ext>
            </a:extLst>
          </p:cNvPr>
          <p:cNvPicPr>
            <a:picLocks noChangeAspect="1"/>
          </p:cNvPicPr>
          <p:nvPr/>
        </p:nvPicPr>
        <p:blipFill>
          <a:blip r:embed="rId2"/>
          <a:stretch>
            <a:fillRect/>
          </a:stretch>
        </p:blipFill>
        <p:spPr>
          <a:xfrm>
            <a:off x="271848" y="372011"/>
            <a:ext cx="11652421" cy="6116140"/>
          </a:xfrm>
          <a:prstGeom prst="rect">
            <a:avLst/>
          </a:prstGeom>
        </p:spPr>
      </p:pic>
    </p:spTree>
    <p:extLst>
      <p:ext uri="{BB962C8B-B14F-4D97-AF65-F5344CB8AC3E}">
        <p14:creationId xmlns:p14="http://schemas.microsoft.com/office/powerpoint/2010/main" val="1289072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C28A8E9-788D-4FB6-AAFD-ACD698E9979C}"/>
              </a:ext>
            </a:extLst>
          </p:cNvPr>
          <p:cNvPicPr>
            <a:picLocks noChangeAspect="1"/>
          </p:cNvPicPr>
          <p:nvPr/>
        </p:nvPicPr>
        <p:blipFill rotWithShape="1">
          <a:blip r:embed="rId2"/>
          <a:srcRect b="1911"/>
          <a:stretch/>
        </p:blipFill>
        <p:spPr>
          <a:xfrm>
            <a:off x="2747318" y="546977"/>
            <a:ext cx="6697363" cy="5708821"/>
          </a:xfrm>
          <a:prstGeom prst="rect">
            <a:avLst/>
          </a:prstGeom>
        </p:spPr>
      </p:pic>
    </p:spTree>
    <p:extLst>
      <p:ext uri="{BB962C8B-B14F-4D97-AF65-F5344CB8AC3E}">
        <p14:creationId xmlns:p14="http://schemas.microsoft.com/office/powerpoint/2010/main" val="2533419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64C3AF7-39A0-4AFF-ACFF-91840ACB8E32}"/>
              </a:ext>
            </a:extLst>
          </p:cNvPr>
          <p:cNvPicPr>
            <a:picLocks noChangeAspect="1"/>
          </p:cNvPicPr>
          <p:nvPr/>
        </p:nvPicPr>
        <p:blipFill>
          <a:blip r:embed="rId2"/>
          <a:stretch>
            <a:fillRect/>
          </a:stretch>
        </p:blipFill>
        <p:spPr>
          <a:xfrm>
            <a:off x="531341" y="863984"/>
            <a:ext cx="11314823" cy="5215540"/>
          </a:xfrm>
          <a:prstGeom prst="rect">
            <a:avLst/>
          </a:prstGeom>
        </p:spPr>
      </p:pic>
    </p:spTree>
    <p:extLst>
      <p:ext uri="{BB962C8B-B14F-4D97-AF65-F5344CB8AC3E}">
        <p14:creationId xmlns:p14="http://schemas.microsoft.com/office/powerpoint/2010/main" val="103181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320049B-AEDF-45BD-A5D6-AAC38B9DF0E4}"/>
              </a:ext>
            </a:extLst>
          </p:cNvPr>
          <p:cNvPicPr>
            <a:picLocks noChangeAspect="1"/>
          </p:cNvPicPr>
          <p:nvPr/>
        </p:nvPicPr>
        <p:blipFill>
          <a:blip r:embed="rId2"/>
          <a:stretch>
            <a:fillRect/>
          </a:stretch>
        </p:blipFill>
        <p:spPr>
          <a:xfrm>
            <a:off x="345990" y="314700"/>
            <a:ext cx="11624768" cy="6296165"/>
          </a:xfrm>
          <a:prstGeom prst="rect">
            <a:avLst/>
          </a:prstGeom>
        </p:spPr>
      </p:pic>
    </p:spTree>
    <p:extLst>
      <p:ext uri="{BB962C8B-B14F-4D97-AF65-F5344CB8AC3E}">
        <p14:creationId xmlns:p14="http://schemas.microsoft.com/office/powerpoint/2010/main" val="2764468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ECC8333-DAAF-45F4-91CD-836F3D2B41CF}"/>
              </a:ext>
            </a:extLst>
          </p:cNvPr>
          <p:cNvPicPr>
            <a:picLocks noChangeAspect="1"/>
          </p:cNvPicPr>
          <p:nvPr/>
        </p:nvPicPr>
        <p:blipFill>
          <a:blip r:embed="rId2"/>
          <a:stretch>
            <a:fillRect/>
          </a:stretch>
        </p:blipFill>
        <p:spPr>
          <a:xfrm>
            <a:off x="296563" y="313600"/>
            <a:ext cx="11607588" cy="6235481"/>
          </a:xfrm>
          <a:prstGeom prst="rect">
            <a:avLst/>
          </a:prstGeom>
        </p:spPr>
      </p:pic>
    </p:spTree>
    <p:extLst>
      <p:ext uri="{BB962C8B-B14F-4D97-AF65-F5344CB8AC3E}">
        <p14:creationId xmlns:p14="http://schemas.microsoft.com/office/powerpoint/2010/main" val="192182390"/>
      </p:ext>
    </p:extLst>
  </p:cSld>
  <p:clrMapOvr>
    <a:masterClrMapping/>
  </p:clrMapOvr>
</p:sld>
</file>

<file path=ppt/theme/theme1.xml><?xml version="1.0" encoding="utf-8"?>
<a:theme xmlns:a="http://schemas.openxmlformats.org/drawingml/2006/main" name="Base">
  <a:themeElements>
    <a:clrScheme name="Base">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e">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e">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TM03457444[[fn=Base]]</Template>
  <TotalTime>2738</TotalTime>
  <Words>354</Words>
  <Application>Microsoft Office PowerPoint</Application>
  <PresentationFormat>Widescreen</PresentationFormat>
  <Paragraphs>37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Corbel</vt:lpstr>
      <vt:lpstr>Poppins</vt:lpstr>
      <vt:lpstr>Roboto</vt:lpstr>
      <vt:lpstr>Base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Marlon Romeo Estrada Gordillo</dc:creator>
  <cp:lastModifiedBy>CARLOS ENRIQUE DE LEON DE LA CRUZ</cp:lastModifiedBy>
  <cp:revision>5</cp:revision>
  <dcterms:created xsi:type="dcterms:W3CDTF">2026-02-03T01:46:22Z</dcterms:created>
  <dcterms:modified xsi:type="dcterms:W3CDTF">2026-02-13T02:38:39Z</dcterms:modified>
</cp:coreProperties>
</file>